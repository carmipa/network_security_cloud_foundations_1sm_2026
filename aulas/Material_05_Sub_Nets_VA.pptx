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9" r:id="rId5"/>
    <p:sldId id="258" r:id="rId6"/>
    <p:sldId id="260" r:id="rId7"/>
    <p:sldId id="263" r:id="rId8"/>
    <p:sldId id="261" r:id="rId9"/>
    <p:sldId id="262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589F2-018D-492C-A12D-489E8C79F124}" v="15" dt="2026-04-06T22:39:33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1578-036D-4669-86E5-F151BA677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CC89B-3437-49A5-94CB-5469E92AC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3F562-80F5-4515-8B00-94C4C4D8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AA0E8-4DC0-42B7-969B-6EF5CC1D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18CD6-DF33-4FC2-8D9F-4C0BDADA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9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944C-F5D3-47B2-9341-4F8EEBAF6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54AF-FF2D-4857-BFB9-7EBB7E116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3ED48-CC4B-495A-9402-CC5B304B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9515E-789D-4488-A504-763246B0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60E5D-132D-4E39-83E3-09DA43BE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2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CF32-B684-43DE-B13C-F6C004E54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402E7-2845-4342-856E-E103A074F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C8705-66C0-4655-896A-801868B1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D02D4-B700-4D68-88A4-1863BC1E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A600-5193-422C-B636-3BE030E4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7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A43E-D354-4B47-8A85-CC869E1C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DF45-85B4-4824-9BEF-B90AAC8BD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81C55-D0D7-49CC-B8FE-97369C815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A25E8-833F-424E-B213-2A6F3BC9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67FD0-4007-48FE-8BD9-F6ED2AAD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C98C4-A5AE-42DF-9C69-F2019400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8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C699E-D2A4-4497-BA5B-8AECB7E3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F71D8-FDF9-4C5E-8789-12D5A7E2E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95792-CDFB-4927-B739-C844A1FCE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2A911-4D14-4702-9839-EA2B38732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0056F4-5B1C-4651-8827-5592F69AC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F0916-0A44-4D47-9D4B-BBDCCD6B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F9FFC-D842-408D-B555-40B1AC86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2AE17-7267-4649-A87E-C6616EC7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3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BF6-1463-4079-8FDF-EB18A83F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092BD-F2E4-4DA9-AF17-811EA3B3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1D2BE-3EFC-4696-84CA-D54CD4E1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72CB4-C8FE-47B8-9EFD-54793BA0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8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AF969-E7EC-43DA-A1B4-728501C2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590E0-99E0-4849-B386-40E68301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3E548-9A25-4D2A-A68D-F31FB580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6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DF85-F540-4931-BAA7-8F7752EC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E1BD-E8B4-4B5D-A406-86EFCAD75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1E7A0-4B2D-4C80-AC9E-F86056F88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57104-83A6-4879-83F4-00358197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EA59D-1091-424D-B844-6C7BCE70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23289-2B1B-4531-9D70-1B9A35B8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4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5BD3-4959-45E7-B23C-9B131552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DFFD7-3924-404B-AD25-16A3CD778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585C-0E97-448C-B47E-03AD139EE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F3AF5-F19A-474E-8D98-E985F94C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4452B-6A6B-4A66-B662-393A0F50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DC954-57B8-4E03-B71C-64D17B08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241F-9EEF-4C56-B0B6-5E403919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24376-8D62-4E87-B8DD-6C6569FE3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1A674-89C4-4CF7-88E6-E30FBC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6A79-9064-4EEC-955F-AA49953A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D40C9-49C1-4D22-9FCB-728E6AB9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4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55753-8612-4C6A-AB81-AA3A1008D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D2B21-484E-41D5-A01D-BF9A34CAC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8060-F3BF-4E9A-87F9-344761F4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F2B57-EC74-41E2-B31F-7664F157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2FCA9-49AA-4DFF-BA2E-592B7DE7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6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D142E-8EDC-46AA-A476-306114B3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6925F-E9BD-42F6-B426-7F1EDE89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C957-6C9D-4679-830E-AF5AF80CA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AA457-7B9A-474A-A099-242B5D90636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A4216-99BC-4367-A564-979744C76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1BCA5-89C6-4A92-B186-91001B20B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32700-74D9-4840-B3A2-49E9472D29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2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6D75C6-A64C-4F9F-897E-60BD264B89ED}"/>
              </a:ext>
            </a:extLst>
          </p:cNvPr>
          <p:cNvSpPr txBox="1"/>
          <p:nvPr/>
        </p:nvSpPr>
        <p:spPr>
          <a:xfrm>
            <a:off x="482600" y="960596"/>
            <a:ext cx="109220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CLASSE A: </a:t>
            </a:r>
          </a:p>
          <a:p>
            <a:r>
              <a:rPr lang="pt-BR" sz="3200" dirty="0">
                <a:solidFill>
                  <a:srgbClr val="FF0000"/>
                </a:solidFill>
              </a:rPr>
              <a:t>255.0.0.0 </a:t>
            </a:r>
            <a:endParaRPr lang="pt-BR" sz="32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pt-BR" sz="2000" dirty="0">
                <a:sym typeface="Wingdings" panose="05000000000000000000" pitchFamily="2" charset="2"/>
              </a:rPr>
              <a:t>11111111.00000000.00000000.00000000</a:t>
            </a:r>
          </a:p>
          <a:p>
            <a:r>
              <a:rPr lang="pt-BR" sz="2000" dirty="0">
                <a:sym typeface="Wingdings" panose="05000000000000000000" pitchFamily="2" charset="2"/>
              </a:rPr>
              <a:t>/8</a:t>
            </a:r>
          </a:p>
          <a:p>
            <a:r>
              <a:rPr lang="pt-BR" sz="2000" dirty="0">
                <a:sym typeface="Wingdings" panose="05000000000000000000" pitchFamily="2" charset="2"/>
              </a:rPr>
              <a:t>16 MILHÕES DE COMBINAÇÕES IPS</a:t>
            </a:r>
          </a:p>
          <a:p>
            <a:endParaRPr lang="pt-BR" sz="2000" dirty="0">
              <a:sym typeface="Wingdings" panose="05000000000000000000" pitchFamily="2" charset="2"/>
            </a:endParaRPr>
          </a:p>
          <a:p>
            <a:r>
              <a:rPr lang="pt-BR" sz="2000" dirty="0">
                <a:sym typeface="Wingdings" panose="05000000000000000000" pitchFamily="2" charset="2"/>
              </a:rPr>
              <a:t>CLASSE B:</a:t>
            </a:r>
          </a:p>
          <a:p>
            <a:r>
              <a:rPr lang="pt-BR" sz="2800" dirty="0">
                <a:solidFill>
                  <a:srgbClr val="FF0000"/>
                </a:solidFill>
                <a:sym typeface="Wingdings" panose="05000000000000000000" pitchFamily="2" charset="2"/>
              </a:rPr>
              <a:t>255.255.0.0</a:t>
            </a:r>
          </a:p>
          <a:p>
            <a:r>
              <a:rPr lang="pt-BR" sz="2000" dirty="0">
                <a:sym typeface="Wingdings" panose="05000000000000000000" pitchFamily="2" charset="2"/>
              </a:rPr>
              <a:t>11111111.11111111.00000000.00000000</a:t>
            </a:r>
          </a:p>
          <a:p>
            <a:r>
              <a:rPr lang="pt-BR" sz="2000" dirty="0">
                <a:sym typeface="Wingdings" panose="05000000000000000000" pitchFamily="2" charset="2"/>
              </a:rPr>
              <a:t>/16</a:t>
            </a:r>
          </a:p>
          <a:p>
            <a:r>
              <a:rPr lang="pt-BR" sz="2000" dirty="0">
                <a:sym typeface="Wingdings" panose="05000000000000000000" pitchFamily="2" charset="2"/>
              </a:rPr>
              <a:t>65.534 IPS</a:t>
            </a:r>
          </a:p>
          <a:p>
            <a:endParaRPr lang="pt-BR" sz="2000" dirty="0">
              <a:sym typeface="Wingdings" panose="05000000000000000000" pitchFamily="2" charset="2"/>
            </a:endParaRPr>
          </a:p>
          <a:p>
            <a:r>
              <a:rPr lang="pt-BR" sz="2000" dirty="0">
                <a:sym typeface="Wingdings" panose="05000000000000000000" pitchFamily="2" charset="2"/>
              </a:rPr>
              <a:t>CLASSE C:</a:t>
            </a:r>
          </a:p>
          <a:p>
            <a:r>
              <a:rPr lang="pt-BR" sz="3200" dirty="0">
                <a:solidFill>
                  <a:srgbClr val="FF0000"/>
                </a:solidFill>
                <a:sym typeface="Wingdings" panose="05000000000000000000" pitchFamily="2" charset="2"/>
              </a:rPr>
              <a:t>255.255.255.0</a:t>
            </a:r>
          </a:p>
          <a:p>
            <a:r>
              <a:rPr lang="pt-BR" sz="2000" dirty="0">
                <a:sym typeface="Wingdings" panose="05000000000000000000" pitchFamily="2" charset="2"/>
              </a:rPr>
              <a:t>11111111.11111111.11111111.00000000</a:t>
            </a:r>
          </a:p>
          <a:p>
            <a:r>
              <a:rPr lang="pt-BR" sz="2000" dirty="0">
                <a:sym typeface="Wingdings" panose="05000000000000000000" pitchFamily="2" charset="2"/>
              </a:rPr>
              <a:t>/24</a:t>
            </a:r>
          </a:p>
          <a:p>
            <a:r>
              <a:rPr lang="pt-BR" sz="2000" dirty="0">
                <a:sym typeface="Wingdings" panose="05000000000000000000" pitchFamily="2" charset="2"/>
              </a:rPr>
              <a:t>254 IPS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71528-669C-47EA-8CF8-59A57262C869}"/>
              </a:ext>
            </a:extLst>
          </p:cNvPr>
          <p:cNvSpPr txBox="1"/>
          <p:nvPr/>
        </p:nvSpPr>
        <p:spPr>
          <a:xfrm>
            <a:off x="2400300" y="314265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REDES DE CLASSE PURA – CLASSFULL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6362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4671-9A02-423E-A049-4D1FFF08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3" y="152282"/>
            <a:ext cx="10515600" cy="1057510"/>
          </a:xfrm>
        </p:spPr>
        <p:txBody>
          <a:bodyPr/>
          <a:lstStyle/>
          <a:p>
            <a:pPr algn="ctr"/>
            <a:r>
              <a:rPr lang="pt-BR" dirty="0"/>
              <a:t>PENSE COMIGO.....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1E3FB-504B-4A73-81E1-65F0BA289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/>
          <a:lstStyle/>
          <a:p>
            <a:r>
              <a:rPr lang="pt-BR" dirty="0"/>
              <a:t>Uma rede de computadores que possui menos que 250 dispositivos na rede pode tranquilamente utilizar uma rede de classe C pura...ou seja 192.168.100.0 255.255.255.0, pois tal rede suporta 254 IPS....</a:t>
            </a:r>
          </a:p>
          <a:p>
            <a:endParaRPr lang="pt-BR" dirty="0"/>
          </a:p>
          <a:p>
            <a:r>
              <a:rPr lang="pt-BR" dirty="0"/>
              <a:t>A partir do momento que você possui uma estrutura de redes que possui mais do que 254 endereços IPS, obrigatoriamente você deverá utilizar uma rede de classe B ou seja 172.16.0.0 255.255.0.0, tal rede suporta 65.534.</a:t>
            </a:r>
          </a:p>
          <a:p>
            <a:endParaRPr lang="pt-BR" dirty="0"/>
          </a:p>
          <a:p>
            <a:pPr algn="ctr"/>
            <a:r>
              <a:rPr lang="pt-BR" dirty="0">
                <a:solidFill>
                  <a:srgbClr val="FF0000"/>
                </a:solidFill>
              </a:rPr>
              <a:t>Você consegue compreender que quando é utilizado uma rede de classe B pura...você terá um grande desperdício de IPS???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17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5C7E-9551-4F3B-ACEF-B74DA7B6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SUB NET´S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610A0-FB62-43D1-99E6-09D642A4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Sub Nets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pt-BR" dirty="0">
                <a:sym typeface="Wingdings" panose="05000000000000000000" pitchFamily="2" charset="2"/>
              </a:rPr>
              <a:t>É a manipulação dos octetos do IP a fim de diminuir o desperdício de IPS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pt-BR" dirty="0">
                <a:sym typeface="Wingdings" panose="05000000000000000000" pitchFamily="2" charset="2"/>
              </a:rPr>
              <a:t>Promover melhor gerenciamento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pt-BR" dirty="0">
                <a:sym typeface="Wingdings" panose="05000000000000000000" pitchFamily="2" charset="2"/>
              </a:rPr>
              <a:t>Promover a criação de Planos de endereçamento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pt-BR" dirty="0">
                <a:sym typeface="Wingdings" panose="05000000000000000000" pitchFamily="2" charset="2"/>
              </a:rPr>
              <a:t>Diminuir </a:t>
            </a:r>
            <a:r>
              <a:rPr lang="pt-BR" dirty="0" err="1">
                <a:sym typeface="Wingdings" panose="05000000000000000000" pitchFamily="2" charset="2"/>
              </a:rPr>
              <a:t>Dominios</a:t>
            </a:r>
            <a:r>
              <a:rPr lang="en-US" dirty="0">
                <a:sym typeface="Wingdings" panose="05000000000000000000" pitchFamily="2" charset="2"/>
              </a:rPr>
              <a:t> de </a:t>
            </a:r>
            <a:r>
              <a:rPr lang="en-US" dirty="0" err="1">
                <a:sym typeface="Wingdings" panose="05000000000000000000" pitchFamily="2" charset="2"/>
              </a:rPr>
              <a:t>Colisão</a:t>
            </a:r>
            <a:r>
              <a:rPr lang="en-US" dirty="0">
                <a:sym typeface="Wingdings" panose="05000000000000000000" pitchFamily="2" charset="2"/>
              </a:rPr>
              <a:t> e Broadcast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 err="1">
                <a:sym typeface="Wingdings" panose="05000000000000000000" pitchFamily="2" charset="2"/>
              </a:rPr>
              <a:t>Enfim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promover</a:t>
            </a:r>
            <a:r>
              <a:rPr lang="en-US" dirty="0">
                <a:sym typeface="Wingdings" panose="05000000000000000000" pitchFamily="2" charset="2"/>
              </a:rPr>
              <a:t> o </a:t>
            </a:r>
            <a:r>
              <a:rPr lang="en-US" dirty="0" err="1">
                <a:sym typeface="Wingdings" panose="05000000000000000000" pitchFamily="2" charset="2"/>
              </a:rPr>
              <a:t>melhor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gerenciamento</a:t>
            </a:r>
            <a:r>
              <a:rPr lang="en-US" dirty="0">
                <a:sym typeface="Wingdings" panose="05000000000000000000" pitchFamily="2" charset="2"/>
              </a:rPr>
              <a:t> da rede</a:t>
            </a:r>
            <a:endParaRPr lang="pt-B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30431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3A3E-AAC0-4A36-9358-3DA37CE6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COMPOSIÇÃO 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3A24A-E7D0-474A-867A-68C250E1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COMPOSTO POR 32 BITS</a:t>
            </a:r>
          </a:p>
          <a:p>
            <a:r>
              <a:rPr lang="pt-BR" dirty="0"/>
              <a:t>DIVIDIDOS EM 04 BYTES – 04 OCTETOS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11111111.11111111.11111111.11111111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                                                        2^8 = 256</a:t>
            </a:r>
          </a:p>
          <a:p>
            <a:pPr marL="0" indent="0" algn="ctr">
              <a:buNone/>
            </a:pPr>
            <a:r>
              <a:rPr lang="pt-BR" dirty="0"/>
              <a:t>255.255.255.255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5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7F3832C-6105-4C00-B3BA-53782A5E5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169751"/>
              </p:ext>
            </p:extLst>
          </p:nvPr>
        </p:nvGraphicFramePr>
        <p:xfrm>
          <a:off x="292099" y="730674"/>
          <a:ext cx="11097558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3062">
                  <a:extLst>
                    <a:ext uri="{9D8B030D-6E8A-4147-A177-3AD203B41FA5}">
                      <a16:colId xmlns:a16="http://schemas.microsoft.com/office/drawing/2014/main" val="3796802239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758937161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2879445508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1142001049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2731320296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1444066542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793321599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1448434563"/>
                    </a:ext>
                  </a:extLst>
                </a:gridCol>
                <a:gridCol w="1233062">
                  <a:extLst>
                    <a:ext uri="{9D8B030D-6E8A-4147-A177-3AD203B41FA5}">
                      <a16:colId xmlns:a16="http://schemas.microsoft.com/office/drawing/2014/main" val="2271604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BYTE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35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128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4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192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56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224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57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240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03805"/>
                  </a:ext>
                </a:extLst>
              </a:tr>
              <a:tr h="374226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248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87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252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7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254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21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rgbClr val="FF0000"/>
                          </a:solidFill>
                        </a:rPr>
                        <a:t>255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347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8A7697-402D-4DE8-8599-0DD10BEB1982}"/>
              </a:ext>
            </a:extLst>
          </p:cNvPr>
          <p:cNvSpPr txBox="1"/>
          <p:nvPr/>
        </p:nvSpPr>
        <p:spPr>
          <a:xfrm>
            <a:off x="1447800" y="145899"/>
            <a:ext cx="97790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CONVERSÃO BINÁRIO DE UM BYTE – 01 OCTETO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106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054738-A15B-494F-A8BF-ED2B093E0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90830"/>
              </p:ext>
            </p:extLst>
          </p:nvPr>
        </p:nvGraphicFramePr>
        <p:xfrm>
          <a:off x="1397002" y="483118"/>
          <a:ext cx="7696197" cy="4453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133">
                  <a:extLst>
                    <a:ext uri="{9D8B030D-6E8A-4147-A177-3AD203B41FA5}">
                      <a16:colId xmlns:a16="http://schemas.microsoft.com/office/drawing/2014/main" val="2220855069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602511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9296997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79739725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5574413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155864134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181897059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69960681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181801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2^15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2^14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2^13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2^9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BYTE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12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88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128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40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192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44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848288"/>
                  </a:ext>
                </a:extLst>
              </a:tr>
              <a:tr h="374226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248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77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252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68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254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7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255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1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5629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567382-C7E7-4324-A4FE-A3369916987A}"/>
              </a:ext>
            </a:extLst>
          </p:cNvPr>
          <p:cNvSpPr txBox="1"/>
          <p:nvPr/>
        </p:nvSpPr>
        <p:spPr>
          <a:xfrm>
            <a:off x="0" y="2202110"/>
            <a:ext cx="1536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172.19</a:t>
            </a:r>
          </a:p>
          <a:p>
            <a:pPr algn="ctr"/>
            <a:r>
              <a:rPr lang="pt-BR" sz="3600" dirty="0"/>
              <a:t>  8 + 8</a:t>
            </a:r>
          </a:p>
          <a:p>
            <a:pPr algn="ctr"/>
            <a:r>
              <a:rPr lang="pt-BR" sz="3600" dirty="0"/>
              <a:t>= 16</a:t>
            </a:r>
            <a:endParaRPr lang="en-US" sz="36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1192EFC-70C4-456D-88A8-E62F107A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206617"/>
              </p:ext>
            </p:extLst>
          </p:nvPr>
        </p:nvGraphicFramePr>
        <p:xfrm>
          <a:off x="9093199" y="1590261"/>
          <a:ext cx="2374900" cy="334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900">
                  <a:extLst>
                    <a:ext uri="{9D8B030D-6E8A-4147-A177-3AD203B41FA5}">
                      <a16:colId xmlns:a16="http://schemas.microsoft.com/office/drawing/2014/main" val="3078440023"/>
                    </a:ext>
                  </a:extLst>
                </a:gridCol>
              </a:tblGrid>
              <a:tr h="418291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32768 – 2^1 – 2^7 /17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554166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r>
                        <a:rPr lang="pt-BR" b="1" dirty="0"/>
                        <a:t>16384 – 2^2 – 2^6 /18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29094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r>
                        <a:rPr lang="pt-BR" b="1" dirty="0"/>
                        <a:t>8192 – 2^3 – 2^5 /19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93954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r>
                        <a:rPr lang="pt-BR" b="1" dirty="0"/>
                        <a:t>4096 – 2^4 -2^4 /20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06366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r>
                        <a:rPr lang="pt-BR" b="1" dirty="0"/>
                        <a:t>2048 – 2^5 – 2^3 /21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762658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r>
                        <a:rPr lang="pt-BR" b="1" dirty="0"/>
                        <a:t>1024 – 2^6 – 2^2 /22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564576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r>
                        <a:rPr lang="pt-BR" b="1" dirty="0"/>
                        <a:t>512 – 2^7 – 2^1 /23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13647"/>
                  </a:ext>
                </a:extLst>
              </a:tr>
              <a:tr h="4182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5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04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054738-A15B-494F-A8BF-ED2B093E0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027830"/>
              </p:ext>
            </p:extLst>
          </p:nvPr>
        </p:nvGraphicFramePr>
        <p:xfrm>
          <a:off x="1397002" y="483118"/>
          <a:ext cx="7383927" cy="4661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133">
                  <a:extLst>
                    <a:ext uri="{9D8B030D-6E8A-4147-A177-3AD203B41FA5}">
                      <a16:colId xmlns:a16="http://schemas.microsoft.com/office/drawing/2014/main" val="2220855069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602511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9296997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79739725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5574413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155864134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181897059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699606811"/>
                    </a:ext>
                  </a:extLst>
                </a:gridCol>
                <a:gridCol w="542863">
                  <a:extLst>
                    <a:ext uri="{9D8B030D-6E8A-4147-A177-3AD203B41FA5}">
                      <a16:colId xmlns:a16="http://schemas.microsoft.com/office/drawing/2014/main" val="4181801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2^15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2^14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2^13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2^10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2^9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BYTE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12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88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128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40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192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44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848288"/>
                  </a:ext>
                </a:extLst>
              </a:tr>
              <a:tr h="374226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248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77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252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68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254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7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255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1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5629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567382-C7E7-4324-A4FE-A3369916987A}"/>
              </a:ext>
            </a:extLst>
          </p:cNvPr>
          <p:cNvSpPr txBox="1"/>
          <p:nvPr/>
        </p:nvSpPr>
        <p:spPr>
          <a:xfrm>
            <a:off x="0" y="2202110"/>
            <a:ext cx="1536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172.19</a:t>
            </a:r>
          </a:p>
          <a:p>
            <a:pPr algn="ctr"/>
            <a:r>
              <a:rPr lang="pt-BR" sz="3600" dirty="0"/>
              <a:t>  8 + 8</a:t>
            </a:r>
          </a:p>
          <a:p>
            <a:pPr algn="ctr"/>
            <a:r>
              <a:rPr lang="pt-BR" sz="3600" dirty="0"/>
              <a:t>= 16</a:t>
            </a:r>
            <a:endParaRPr lang="en-US" sz="36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1192EFC-70C4-456D-88A8-E62F107A0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42551"/>
              </p:ext>
            </p:extLst>
          </p:nvPr>
        </p:nvGraphicFramePr>
        <p:xfrm>
          <a:off x="8780929" y="1699487"/>
          <a:ext cx="3240742" cy="337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742">
                  <a:extLst>
                    <a:ext uri="{9D8B030D-6E8A-4147-A177-3AD203B41FA5}">
                      <a16:colId xmlns:a16="http://schemas.microsoft.com/office/drawing/2014/main" val="3078440023"/>
                    </a:ext>
                  </a:extLst>
                </a:gridCol>
              </a:tblGrid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 int.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variam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 128x128 = 32768 IPS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554166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4 int. </a:t>
                      </a:r>
                      <a:r>
                        <a:rPr lang="en-US" sz="1600" b="1" dirty="0" err="1"/>
                        <a:t>variam</a:t>
                      </a:r>
                      <a:r>
                        <a:rPr lang="en-US" sz="1600" b="1" dirty="0"/>
                        <a:t> 64x64 = 16384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29094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8 int. </a:t>
                      </a:r>
                      <a:r>
                        <a:rPr lang="en-US" sz="1600" b="1" dirty="0" err="1"/>
                        <a:t>variam</a:t>
                      </a:r>
                      <a:r>
                        <a:rPr lang="en-US" sz="1600" b="1" dirty="0"/>
                        <a:t> 32 x 32 = 8192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93954"/>
                  </a:ext>
                </a:extLst>
              </a:tr>
              <a:tr h="4932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16 int. </a:t>
                      </a:r>
                      <a:r>
                        <a:rPr lang="en-US" sz="1600" b="1" dirty="0" err="1"/>
                        <a:t>variam</a:t>
                      </a:r>
                      <a:r>
                        <a:rPr lang="en-US" sz="1600" b="1" dirty="0"/>
                        <a:t> 16 x 16 = 4096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06366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32 int. </a:t>
                      </a:r>
                      <a:r>
                        <a:rPr lang="en-US" sz="1600" b="1" dirty="0" err="1"/>
                        <a:t>variam</a:t>
                      </a:r>
                      <a:r>
                        <a:rPr lang="en-US" sz="1600" b="1" dirty="0"/>
                        <a:t> 8 x 8 = 2048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762658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64 int. </a:t>
                      </a:r>
                      <a:r>
                        <a:rPr lang="en-US" sz="1600" b="1" dirty="0" err="1"/>
                        <a:t>variam</a:t>
                      </a:r>
                      <a:r>
                        <a:rPr lang="en-US" sz="1600" b="1" dirty="0"/>
                        <a:t> 4 x 4 1024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564576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128 int. </a:t>
                      </a:r>
                      <a:r>
                        <a:rPr lang="en-US" sz="1600" b="1" dirty="0" err="1"/>
                        <a:t>variam</a:t>
                      </a:r>
                      <a:r>
                        <a:rPr lang="en-US" sz="1600" b="1" dirty="0"/>
                        <a:t> 2 x 2 = 512 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13647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5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20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7A5C-F26F-4FB5-B221-60D83390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000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sz="2800" b="1" dirty="0"/>
              <a:t>Diante do cenário:</a:t>
            </a:r>
            <a:br>
              <a:rPr lang="pt-BR" sz="2800" b="1" dirty="0"/>
            </a:br>
            <a:r>
              <a:rPr lang="pt-BR" sz="2800" b="1" dirty="0"/>
              <a:t>Matriz </a:t>
            </a:r>
            <a:r>
              <a:rPr lang="pt-BR" sz="2800" b="1" dirty="0">
                <a:sym typeface="Wingdings" panose="05000000000000000000" pitchFamily="2" charset="2"/>
              </a:rPr>
              <a:t> </a:t>
            </a:r>
            <a:r>
              <a:rPr lang="pt-BR" sz="2800" b="1" dirty="0"/>
              <a:t> 800 IPS</a:t>
            </a:r>
            <a:br>
              <a:rPr lang="pt-BR" sz="2800" b="1" dirty="0"/>
            </a:br>
            <a:r>
              <a:rPr lang="pt-BR" sz="2800" b="1" dirty="0"/>
              <a:t>Filial  </a:t>
            </a:r>
            <a:r>
              <a:rPr lang="pt-BR" sz="2800" b="1" dirty="0">
                <a:sym typeface="Wingdings" panose="05000000000000000000" pitchFamily="2" charset="2"/>
              </a:rPr>
              <a:t> 700  IPS</a:t>
            </a:r>
            <a:br>
              <a:rPr lang="pt-BR" sz="2800" b="1" dirty="0">
                <a:sym typeface="Wingdings" panose="05000000000000000000" pitchFamily="2" charset="2"/>
              </a:rPr>
            </a:br>
            <a:r>
              <a:rPr lang="pt-BR" sz="2800" b="1" dirty="0">
                <a:sym typeface="Wingdings" panose="05000000000000000000" pitchFamily="2" charset="2"/>
              </a:rPr>
              <a:t>Data Center  750 IPS </a:t>
            </a:r>
            <a:br>
              <a:rPr lang="pt-BR" sz="2800" b="1" dirty="0">
                <a:sym typeface="Wingdings" panose="05000000000000000000" pitchFamily="2" charset="2"/>
              </a:rPr>
            </a:br>
            <a:br>
              <a:rPr lang="pt-BR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20112-995B-435A-952F-5F9873CD9A16}"/>
              </a:ext>
            </a:extLst>
          </p:cNvPr>
          <p:cNvSpPr txBox="1"/>
          <p:nvPr/>
        </p:nvSpPr>
        <p:spPr>
          <a:xfrm>
            <a:off x="304800" y="1956356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 você foi fornecido 172.19.0.0 para promover a criação do plano de endereçamento.</a:t>
            </a:r>
          </a:p>
          <a:p>
            <a:pPr algn="ctr"/>
            <a:r>
              <a:rPr lang="pt-BR" sz="2400" b="1" dirty="0"/>
              <a:t>172.19.</a:t>
            </a:r>
            <a:r>
              <a:rPr lang="pt-BR" sz="2400" b="1" dirty="0">
                <a:solidFill>
                  <a:srgbClr val="7030A0"/>
                </a:solidFill>
              </a:rPr>
              <a:t>11111111</a:t>
            </a:r>
            <a:r>
              <a:rPr lang="pt-BR" sz="2400" b="1" dirty="0"/>
              <a:t>. </a:t>
            </a:r>
            <a:r>
              <a:rPr lang="pt-BR" sz="2400" b="1" dirty="0">
                <a:solidFill>
                  <a:srgbClr val="FF0000"/>
                </a:solidFill>
              </a:rPr>
              <a:t>11111111</a:t>
            </a:r>
          </a:p>
          <a:p>
            <a:pPr algn="ctr"/>
            <a:r>
              <a:rPr lang="pt-BR" sz="2400" b="1" dirty="0"/>
              <a:t>                                   2^8 = 256</a:t>
            </a:r>
            <a:r>
              <a:rPr lang="pt-BR" dirty="0"/>
              <a:t>.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D603A53-C1C5-4613-8BB6-4DEC32BC5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946025"/>
              </p:ext>
            </p:extLst>
          </p:nvPr>
        </p:nvGraphicFramePr>
        <p:xfrm>
          <a:off x="304800" y="2687320"/>
          <a:ext cx="61722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87254761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157645037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1963116394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1002229903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1420816468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2394397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380898626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545195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2^10</a:t>
                      </a:r>
                    </a:p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2^9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512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153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23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807735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64B20D9-4657-4B47-A96F-B15CFE57C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69111"/>
              </p:ext>
            </p:extLst>
          </p:nvPr>
        </p:nvGraphicFramePr>
        <p:xfrm>
          <a:off x="304800" y="4343400"/>
          <a:ext cx="6172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519">
                  <a:extLst>
                    <a:ext uri="{9D8B030D-6E8A-4147-A177-3AD203B41FA5}">
                      <a16:colId xmlns:a16="http://schemas.microsoft.com/office/drawing/2014/main" val="933821821"/>
                    </a:ext>
                  </a:extLst>
                </a:gridCol>
                <a:gridCol w="1523681">
                  <a:extLst>
                    <a:ext uri="{9D8B030D-6E8A-4147-A177-3AD203B41FA5}">
                      <a16:colId xmlns:a16="http://schemas.microsoft.com/office/drawing/2014/main" val="712217768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2^6 = 64</a:t>
                      </a:r>
                    </a:p>
                    <a:p>
                      <a:pPr algn="ctr"/>
                      <a:r>
                        <a:rPr lang="pt-BR" dirty="0"/>
                        <a:t>Bits que sobrarão ou não </a:t>
                      </a:r>
                      <a:r>
                        <a:rPr lang="pt-BR" dirty="0" err="1"/>
                        <a:t>forão</a:t>
                      </a:r>
                      <a:r>
                        <a:rPr lang="pt-BR" dirty="0"/>
                        <a:t> pegos emprestados serão a </a:t>
                      </a:r>
                      <a:r>
                        <a:rPr lang="pt-BR" dirty="0" err="1"/>
                        <a:t>qtde</a:t>
                      </a:r>
                      <a:r>
                        <a:rPr lang="pt-BR" dirty="0"/>
                        <a:t> de intervalos da sub 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2^2 = 4</a:t>
                      </a:r>
                    </a:p>
                    <a:p>
                      <a:pPr algn="ctr"/>
                      <a:r>
                        <a:rPr lang="pt-BR" dirty="0"/>
                        <a:t>Bits Emprestados</a:t>
                      </a:r>
                    </a:p>
                    <a:p>
                      <a:pPr algn="ctr"/>
                      <a:r>
                        <a:rPr lang="pt-BR" dirty="0"/>
                        <a:t>Variação da Sub Net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7636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64 Intervalos de Sub Nets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Variando de 4 em 4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309043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BCA7A91-B189-493C-84CC-EF4CA2A4D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545640"/>
              </p:ext>
            </p:extLst>
          </p:nvPr>
        </p:nvGraphicFramePr>
        <p:xfrm>
          <a:off x="6597650" y="5956935"/>
          <a:ext cx="355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944670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Cada intervalo comporta 1024 IPS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78592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93BBD4E9-E120-4DA7-9162-3312B7C60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63310"/>
              </p:ext>
            </p:extLst>
          </p:nvPr>
        </p:nvGraphicFramePr>
        <p:xfrm>
          <a:off x="6724650" y="3172678"/>
          <a:ext cx="508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140979297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12300600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53926742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96938253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07529053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14031383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82949833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963997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18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481584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A5A1FBA-1234-43CA-9E3D-D526EAF75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11210"/>
              </p:ext>
            </p:extLst>
          </p:nvPr>
        </p:nvGraphicFramePr>
        <p:xfrm>
          <a:off x="6737350" y="3914358"/>
          <a:ext cx="50673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0">
                  <a:extLst>
                    <a:ext uri="{9D8B030D-6E8A-4147-A177-3AD203B41FA5}">
                      <a16:colId xmlns:a16="http://schemas.microsoft.com/office/drawing/2014/main" val="215267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128 + 64 + 32 + 16 + 8 + 4 = 252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695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255.255.252.0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23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11111111.11111111.11111100.00000000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61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8 + 8 + 6 + 0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27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/22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793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864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B0DDAE2-A233-4EEE-AE87-F2202CB73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020263"/>
              </p:ext>
            </p:extLst>
          </p:nvPr>
        </p:nvGraphicFramePr>
        <p:xfrm>
          <a:off x="2184400" y="2186142"/>
          <a:ext cx="9829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1398426867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541390789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428985751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979692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Intervalo começa</a:t>
                      </a:r>
                    </a:p>
                    <a:p>
                      <a:pPr algn="ctr"/>
                      <a:r>
                        <a:rPr lang="pt-BR" sz="2400" b="1" dirty="0"/>
                        <a:t>Endereço de rede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Intervalo termina</a:t>
                      </a:r>
                    </a:p>
                    <a:p>
                      <a:pPr algn="ctr"/>
                      <a:r>
                        <a:rPr lang="pt-BR" sz="2400" b="1" dirty="0"/>
                        <a:t>Endereço Broadcast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Mascara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Representação barra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512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 172.19.0.0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172.19.3.255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255.255.252.0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/22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25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172.19.4.0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172.19.7.255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255.255.252.0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/22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83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172.19.8.0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172.19.11.255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255.255.252.0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/22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73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172.19.12.0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172.19.15.255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255.255.252.0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/22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5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172.19.16.0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172.19.19.255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255.255.252.0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4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172.19.23.255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255.255.252.0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1809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782FF3-6876-4D88-933B-D8F420739EB8}"/>
              </a:ext>
            </a:extLst>
          </p:cNvPr>
          <p:cNvSpPr txBox="1"/>
          <p:nvPr/>
        </p:nvSpPr>
        <p:spPr>
          <a:xfrm>
            <a:off x="363071" y="304800"/>
            <a:ext cx="115510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64 INTERVBALOS VARIANDO DE 4 EM 4</a:t>
            </a:r>
          </a:p>
          <a:p>
            <a:pPr algn="ctr"/>
            <a:r>
              <a:rPr lang="pt-BR" sz="2000" b="1" dirty="0"/>
              <a:t>SENDO QUE CADA INTERVALO COMPORTA 1024 IPS</a:t>
            </a:r>
          </a:p>
          <a:p>
            <a:pPr algn="ctr"/>
            <a:r>
              <a:rPr lang="pt-BR" sz="2000" b="1" dirty="0"/>
              <a:t>255.255.252.0 </a:t>
            </a:r>
          </a:p>
          <a:p>
            <a:pPr algn="ctr"/>
            <a:r>
              <a:rPr lang="pt-BR" sz="2000" b="1" dirty="0"/>
              <a:t>REPRESENTAÇÃO EM BARRA = 11111111.11111111.11111100.00000000  = /22</a:t>
            </a:r>
            <a:endParaRPr lang="en-US" sz="2000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2BF3822-985D-4307-9DFF-E7C04E6E8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913426"/>
              </p:ext>
            </p:extLst>
          </p:nvPr>
        </p:nvGraphicFramePr>
        <p:xfrm>
          <a:off x="469900" y="2942166"/>
          <a:ext cx="1714500" cy="3207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513078255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12041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pt-BR" dirty="0"/>
                        <a:t>Matriz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83765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pt-BR" dirty="0"/>
                        <a:t>Filial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874416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pt-BR" dirty="0"/>
                        <a:t>Data Center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7447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US" sz="1600" dirty="0"/>
                        <a:t>Wan </a:t>
                      </a:r>
                      <a:r>
                        <a:rPr lang="en-US" sz="1600" dirty="0" err="1"/>
                        <a:t>Matriz</a:t>
                      </a:r>
                      <a:r>
                        <a:rPr lang="en-US" sz="1600" dirty="0"/>
                        <a:t> - Filial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45040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US" dirty="0"/>
                        <a:t>Wan Filial – DC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041280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US" dirty="0"/>
                        <a:t>Wan DC - </a:t>
                      </a:r>
                      <a:r>
                        <a:rPr lang="en-US" dirty="0" err="1"/>
                        <a:t>Matriz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02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14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B0DDAE2-A233-4EEE-AE87-F2202CB73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051595"/>
              </p:ext>
            </p:extLst>
          </p:nvPr>
        </p:nvGraphicFramePr>
        <p:xfrm>
          <a:off x="1861671" y="1628239"/>
          <a:ext cx="9829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1398426867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541390789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428985751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979692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Intervalo começa</a:t>
                      </a:r>
                    </a:p>
                    <a:p>
                      <a:pPr algn="ctr"/>
                      <a:r>
                        <a:rPr lang="pt-BR" sz="2400" b="1" dirty="0">
                          <a:solidFill>
                            <a:srgbClr val="FF0000"/>
                          </a:solidFill>
                        </a:rPr>
                        <a:t>Endereço de rede</a:t>
                      </a:r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Intervalo termina</a:t>
                      </a:r>
                    </a:p>
                    <a:p>
                      <a:pPr algn="ctr"/>
                      <a:r>
                        <a:rPr lang="pt-BR" sz="2400" b="1" dirty="0">
                          <a:solidFill>
                            <a:srgbClr val="FF0000"/>
                          </a:solidFill>
                        </a:rPr>
                        <a:t>Endereço Broadcast</a:t>
                      </a:r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PRIMEIRO IP VALIDO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ULTIMO IP VALIDO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512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 172.19.0.0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172.19.3.255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172.19.3.254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25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172.19.4.0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172.19.7.255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172.19.7.254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83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172.19.8.0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172.19.11.255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172.19.11.254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73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172.19.12.0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172.19.15.255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172.19.15.254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5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172.19.16.0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172.19.19.255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172.19.19.254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4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172.19.23.255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172.19.23.254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1809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782FF3-6876-4D88-933B-D8F420739EB8}"/>
              </a:ext>
            </a:extLst>
          </p:cNvPr>
          <p:cNvSpPr txBox="1"/>
          <p:nvPr/>
        </p:nvSpPr>
        <p:spPr>
          <a:xfrm>
            <a:off x="363071" y="304800"/>
            <a:ext cx="115510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64 INTERVBALOS VARIANDO DE 4 EM 4</a:t>
            </a:r>
          </a:p>
          <a:p>
            <a:pPr algn="ctr"/>
            <a:r>
              <a:rPr lang="pt-BR" sz="2000" b="1" dirty="0"/>
              <a:t>SENDO QUE CADA INTERVALO COMPORTA 1024 IPS</a:t>
            </a:r>
          </a:p>
          <a:p>
            <a:pPr algn="ctr"/>
            <a:r>
              <a:rPr lang="pt-BR" sz="2000" b="1" dirty="0"/>
              <a:t>255.255.252.0 </a:t>
            </a:r>
          </a:p>
          <a:p>
            <a:pPr algn="ctr"/>
            <a:r>
              <a:rPr lang="pt-BR" sz="2000" b="1" dirty="0"/>
              <a:t>REPRESENTAÇÃO EM BARRA = 11111111.11111111.11111100.00000000  = /22</a:t>
            </a:r>
            <a:endParaRPr lang="en-US" sz="2000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2BF3822-985D-4307-9DFF-E7C04E6E8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79780"/>
              </p:ext>
            </p:extLst>
          </p:nvPr>
        </p:nvGraphicFramePr>
        <p:xfrm>
          <a:off x="147171" y="2384263"/>
          <a:ext cx="1714500" cy="3207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513078255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12041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pt-BR" dirty="0"/>
                        <a:t>Matriz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83765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pt-BR" dirty="0"/>
                        <a:t>Filial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874416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pt-BR" dirty="0"/>
                        <a:t>Data Center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7447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US" sz="1600" dirty="0"/>
                        <a:t>Wan </a:t>
                      </a:r>
                      <a:r>
                        <a:rPr lang="en-US" sz="1600" dirty="0" err="1"/>
                        <a:t>Matriz</a:t>
                      </a:r>
                      <a:r>
                        <a:rPr lang="en-US" sz="1600" dirty="0"/>
                        <a:t> - Filial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45040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US" dirty="0"/>
                        <a:t>Wan Filial – DC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041280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US" dirty="0"/>
                        <a:t>Wan DC - </a:t>
                      </a:r>
                      <a:r>
                        <a:rPr lang="en-US" dirty="0" err="1"/>
                        <a:t>Matriz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0233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07422E3-C98B-454A-8C97-E6443E0C7819}"/>
              </a:ext>
            </a:extLst>
          </p:cNvPr>
          <p:cNvSpPr txBox="1"/>
          <p:nvPr/>
        </p:nvSpPr>
        <p:spPr>
          <a:xfrm>
            <a:off x="1721224" y="5876365"/>
            <a:ext cx="981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DESTA FORMA CADA INTERVALO COMPORTA 1024 -2 </a:t>
            </a:r>
            <a:r>
              <a:rPr lang="pt-BR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 1022 IPS VÁLIDOS</a:t>
            </a:r>
            <a:endParaRPr lang="pt-B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39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6CABD1-A0A0-79BD-3119-98CE27388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4716"/>
            <a:ext cx="12041869" cy="5917656"/>
          </a:xfrm>
        </p:spPr>
        <p:txBody>
          <a:bodyPr/>
          <a:lstStyle/>
          <a:p>
            <a:r>
              <a:rPr lang="pt-BR" dirty="0"/>
              <a:t>Diante do cenário</a:t>
            </a:r>
          </a:p>
          <a:p>
            <a:pPr lvl="1"/>
            <a:r>
              <a:rPr lang="pt-BR" dirty="0"/>
              <a:t>Matriz 800 IPS </a:t>
            </a:r>
            <a:r>
              <a:rPr lang="pt-BR" dirty="0">
                <a:sym typeface="Wingdings" panose="05000000000000000000" pitchFamily="2" charset="2"/>
              </a:rPr>
              <a:t> 172.19.0.0 ATÉ 172.19.3.255/22</a:t>
            </a:r>
            <a:endParaRPr lang="pt-BR" dirty="0"/>
          </a:p>
          <a:p>
            <a:pPr lvl="1"/>
            <a:r>
              <a:rPr lang="pt-BR" dirty="0"/>
              <a:t>Filial I 750 IPS </a:t>
            </a:r>
            <a:r>
              <a:rPr lang="pt-BR" dirty="0">
                <a:sym typeface="Wingdings" panose="05000000000000000000" pitchFamily="2" charset="2"/>
              </a:rPr>
              <a:t> 172.19.4.0 ATÉ 172.19.7.255/22</a:t>
            </a:r>
            <a:endParaRPr lang="pt-BR" dirty="0"/>
          </a:p>
          <a:p>
            <a:pPr lvl="1"/>
            <a:r>
              <a:rPr lang="pt-BR" dirty="0"/>
              <a:t>Filial II 700 IPS </a:t>
            </a:r>
            <a:r>
              <a:rPr lang="pt-BR" dirty="0">
                <a:sym typeface="Wingdings" panose="05000000000000000000" pitchFamily="2" charset="2"/>
              </a:rPr>
              <a:t> 172.19.8.0 ATÉ 172.19.11.255/22</a:t>
            </a:r>
            <a:endParaRPr lang="pt-BR" dirty="0"/>
          </a:p>
          <a:p>
            <a:pPr lvl="2"/>
            <a:r>
              <a:rPr lang="pt-BR" dirty="0"/>
              <a:t>A você foi fornecido 172.19</a:t>
            </a:r>
            <a:r>
              <a:rPr lang="pt-BR" dirty="0">
                <a:solidFill>
                  <a:srgbClr val="FF0000"/>
                </a:solidFill>
              </a:rPr>
              <a:t>.0.0 </a:t>
            </a:r>
            <a:r>
              <a:rPr lang="pt-BR" dirty="0"/>
              <a:t>para Lan e </a:t>
            </a:r>
            <a:r>
              <a:rPr lang="pt-BR" dirty="0" err="1"/>
              <a:t>Wan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B527E1A-7904-2757-ACEE-F75B79DC9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907861"/>
              </p:ext>
            </p:extLst>
          </p:nvPr>
        </p:nvGraphicFramePr>
        <p:xfrm>
          <a:off x="2142698" y="2687320"/>
          <a:ext cx="98991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009">
                  <a:extLst>
                    <a:ext uri="{9D8B030D-6E8A-4147-A177-3AD203B41FA5}">
                      <a16:colId xmlns:a16="http://schemas.microsoft.com/office/drawing/2014/main" val="2145858532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1254982173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79506547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4149021147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1485055148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204158656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1589652482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4226449559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4036064937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171332963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908466061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2866652217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955102039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499707307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832501732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417601840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4113365853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3465017361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1117909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b="0" dirty="0"/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43525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F27E7723-E9C3-597E-A0EA-E7C910F53922}"/>
              </a:ext>
            </a:extLst>
          </p:cNvPr>
          <p:cNvSpPr txBox="1"/>
          <p:nvPr/>
        </p:nvSpPr>
        <p:spPr>
          <a:xfrm>
            <a:off x="150131" y="2411828"/>
            <a:ext cx="180150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1 Passo</a:t>
            </a:r>
          </a:p>
          <a:p>
            <a:r>
              <a:rPr lang="pt-BR" sz="1400" dirty="0"/>
              <a:t>Abrir os octetos</a:t>
            </a:r>
          </a:p>
          <a:p>
            <a:r>
              <a:rPr lang="pt-BR" sz="1400" b="1" dirty="0"/>
              <a:t>2 Passo</a:t>
            </a:r>
          </a:p>
          <a:p>
            <a:r>
              <a:rPr lang="pt-BR" sz="1400" dirty="0"/>
              <a:t>Verificar </a:t>
            </a:r>
            <a:r>
              <a:rPr lang="pt-BR" sz="1400" dirty="0" err="1"/>
              <a:t>qtos</a:t>
            </a:r>
            <a:r>
              <a:rPr lang="pt-BR" sz="1400" dirty="0"/>
              <a:t> bits serão pegos emprestados</a:t>
            </a:r>
          </a:p>
          <a:p>
            <a:r>
              <a:rPr lang="pt-BR" sz="1400" b="1" dirty="0"/>
              <a:t>3 Passo</a:t>
            </a:r>
          </a:p>
          <a:p>
            <a:r>
              <a:rPr lang="pt-BR" sz="1400" dirty="0"/>
              <a:t>Os bits emprestados passam a ser zero</a:t>
            </a:r>
          </a:p>
          <a:p>
            <a:r>
              <a:rPr lang="pt-BR" sz="1400" dirty="0"/>
              <a:t>Os Bits que não foram pegos emprestados são mantidos em 1</a:t>
            </a:r>
          </a:p>
          <a:p>
            <a:r>
              <a:rPr lang="pt-BR" sz="1400" b="1" dirty="0"/>
              <a:t>4 Passo</a:t>
            </a:r>
          </a:p>
          <a:p>
            <a:r>
              <a:rPr lang="pt-BR" sz="1400" dirty="0"/>
              <a:t>Abertura da Sub Net e identificação de intervalos e variação</a:t>
            </a:r>
          </a:p>
          <a:p>
            <a:r>
              <a:rPr lang="pt-BR" sz="1400" b="1" dirty="0"/>
              <a:t>5 Passo</a:t>
            </a:r>
          </a:p>
          <a:p>
            <a:r>
              <a:rPr lang="pt-BR" sz="1400" dirty="0"/>
              <a:t>Fazer o calculo da mascara de sub rede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884A57-2A7A-67E0-CE93-8366CCFA774F}"/>
              </a:ext>
            </a:extLst>
          </p:cNvPr>
          <p:cNvSpPr txBox="1"/>
          <p:nvPr/>
        </p:nvSpPr>
        <p:spPr>
          <a:xfrm>
            <a:off x="9840036" y="2317988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2^8 = 256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A0C034-DFE2-8C5F-9E07-101AD31593B5}"/>
              </a:ext>
            </a:extLst>
          </p:cNvPr>
          <p:cNvSpPr txBox="1"/>
          <p:nvPr/>
        </p:nvSpPr>
        <p:spPr>
          <a:xfrm>
            <a:off x="6824421" y="2040989"/>
            <a:ext cx="53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2^9</a:t>
            </a:r>
          </a:p>
          <a:p>
            <a:r>
              <a:rPr lang="pt-BR" dirty="0"/>
              <a:t>512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C404AB-775F-A88A-DEC8-EC7739BBF7B5}"/>
              </a:ext>
            </a:extLst>
          </p:cNvPr>
          <p:cNvSpPr txBox="1"/>
          <p:nvPr/>
        </p:nvSpPr>
        <p:spPr>
          <a:xfrm>
            <a:off x="6205179" y="2088663"/>
            <a:ext cx="65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2^10</a:t>
            </a:r>
          </a:p>
          <a:p>
            <a:r>
              <a:rPr lang="pt-BR" dirty="0"/>
              <a:t>1024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4FC0B5D-B6D6-A712-F16B-2ABCCEB9D4F5}"/>
              </a:ext>
            </a:extLst>
          </p:cNvPr>
          <p:cNvSpPr txBox="1"/>
          <p:nvPr/>
        </p:nvSpPr>
        <p:spPr>
          <a:xfrm flipH="1">
            <a:off x="6496334" y="3543154"/>
            <a:ext cx="1510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2^2 = 4</a:t>
            </a:r>
          </a:p>
          <a:p>
            <a:r>
              <a:rPr lang="pt-BR" sz="1200" dirty="0"/>
              <a:t>Bits emprestados</a:t>
            </a:r>
          </a:p>
          <a:p>
            <a:r>
              <a:rPr lang="pt-BR" sz="1200" dirty="0"/>
              <a:t>Variação da Sub net</a:t>
            </a:r>
          </a:p>
          <a:p>
            <a:r>
              <a:rPr lang="pt-BR" sz="1200" dirty="0"/>
              <a:t>De quanto em quanto e vai variar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986858D-E6C0-A1BA-53E0-DBA865D2F323}"/>
              </a:ext>
            </a:extLst>
          </p:cNvPr>
          <p:cNvSpPr txBox="1"/>
          <p:nvPr/>
        </p:nvSpPr>
        <p:spPr>
          <a:xfrm>
            <a:off x="3275463" y="3543154"/>
            <a:ext cx="20608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2^6 = 64</a:t>
            </a:r>
          </a:p>
          <a:p>
            <a:r>
              <a:rPr lang="pt-BR" sz="1200" dirty="0"/>
              <a:t>Bits que não foram pegos emprestados será a quantidade de intervalos/ruas/sub nets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96EDF3-6708-DBDE-E185-CF9CFFA1B9FB}"/>
              </a:ext>
            </a:extLst>
          </p:cNvPr>
          <p:cNvSpPr txBox="1"/>
          <p:nvPr/>
        </p:nvSpPr>
        <p:spPr>
          <a:xfrm>
            <a:off x="2160347" y="4765304"/>
            <a:ext cx="825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64 intervalos que variam de 4 em 4 sendo que cada intervalo comporta 1024 IPS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9BF7D55E-E68B-3C21-7B8B-54BFD3446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76094"/>
              </p:ext>
            </p:extLst>
          </p:nvPr>
        </p:nvGraphicFramePr>
        <p:xfrm>
          <a:off x="2362677" y="5245774"/>
          <a:ext cx="41680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009">
                  <a:extLst>
                    <a:ext uri="{9D8B030D-6E8A-4147-A177-3AD203B41FA5}">
                      <a16:colId xmlns:a16="http://schemas.microsoft.com/office/drawing/2014/main" val="1542237177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97144181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1303289488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92842810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794890795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563145304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2781483733"/>
                    </a:ext>
                  </a:extLst>
                </a:gridCol>
                <a:gridCol w="521009">
                  <a:extLst>
                    <a:ext uri="{9D8B030D-6E8A-4147-A177-3AD203B41FA5}">
                      <a16:colId xmlns:a16="http://schemas.microsoft.com/office/drawing/2014/main" val="291196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62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787531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1C201EEA-1838-1C13-BCFE-24353A4324C5}"/>
              </a:ext>
            </a:extLst>
          </p:cNvPr>
          <p:cNvSpPr txBox="1"/>
          <p:nvPr/>
        </p:nvSpPr>
        <p:spPr>
          <a:xfrm>
            <a:off x="6763913" y="5160033"/>
            <a:ext cx="4259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128 + 64 + 32 + 16 + 8 + 4 </a:t>
            </a:r>
            <a:r>
              <a:rPr lang="pt-BR" dirty="0">
                <a:sym typeface="Wingdings" panose="05000000000000000000" pitchFamily="2" charset="2"/>
              </a:rPr>
              <a:t> 252</a:t>
            </a:r>
          </a:p>
          <a:p>
            <a:r>
              <a:rPr lang="pt-BR" dirty="0">
                <a:sym typeface="Wingdings" panose="05000000000000000000" pitchFamily="2" charset="2"/>
              </a:rPr>
              <a:t>255.255.252.0</a:t>
            </a:r>
          </a:p>
          <a:p>
            <a:r>
              <a:rPr lang="pt-BR" dirty="0">
                <a:sym typeface="Wingdings" panose="05000000000000000000" pitchFamily="2" charset="2"/>
              </a:rPr>
              <a:t>11111111.11111111.11111100.00000000 </a:t>
            </a:r>
          </a:p>
          <a:p>
            <a:r>
              <a:rPr lang="pt-BR" dirty="0">
                <a:sym typeface="Wingdings" panose="05000000000000000000" pitchFamily="2" charset="2"/>
              </a:rPr>
              <a:t>8 + 8 + 6 + 0 = /22</a:t>
            </a:r>
          </a:p>
        </p:txBody>
      </p:sp>
    </p:spTree>
    <p:extLst>
      <p:ext uri="{BB962C8B-B14F-4D97-AF65-F5344CB8AC3E}">
        <p14:creationId xmlns:p14="http://schemas.microsoft.com/office/powerpoint/2010/main" val="120506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CE256-20FF-6C5A-1B3B-F48611EF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dirty="0"/>
              <a:t>ABERTURA DOS INTERVALOS</a:t>
            </a:r>
            <a:br>
              <a:rPr lang="pt-BR" sz="3200" dirty="0"/>
            </a:br>
            <a:r>
              <a:rPr lang="pt-BR" sz="3200" dirty="0"/>
              <a:t>64 INTERVALOS QUE VARIAM DE 4 EM 4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9ADBDEA-91B7-E74D-D97E-10282BBE1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853315"/>
              </p:ext>
            </p:extLst>
          </p:nvPr>
        </p:nvGraphicFramePr>
        <p:xfrm>
          <a:off x="423081" y="1825625"/>
          <a:ext cx="112048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203">
                  <a:extLst>
                    <a:ext uri="{9D8B030D-6E8A-4147-A177-3AD203B41FA5}">
                      <a16:colId xmlns:a16="http://schemas.microsoft.com/office/drawing/2014/main" val="1852036649"/>
                    </a:ext>
                  </a:extLst>
                </a:gridCol>
                <a:gridCol w="2801203">
                  <a:extLst>
                    <a:ext uri="{9D8B030D-6E8A-4147-A177-3AD203B41FA5}">
                      <a16:colId xmlns:a16="http://schemas.microsoft.com/office/drawing/2014/main" val="3546299666"/>
                    </a:ext>
                  </a:extLst>
                </a:gridCol>
                <a:gridCol w="2801203">
                  <a:extLst>
                    <a:ext uri="{9D8B030D-6E8A-4147-A177-3AD203B41FA5}">
                      <a16:colId xmlns:a16="http://schemas.microsoft.com/office/drawing/2014/main" val="1278327477"/>
                    </a:ext>
                  </a:extLst>
                </a:gridCol>
                <a:gridCol w="2801203">
                  <a:extLst>
                    <a:ext uri="{9D8B030D-6E8A-4147-A177-3AD203B41FA5}">
                      <a16:colId xmlns:a16="http://schemas.microsoft.com/office/drawing/2014/main" val="1465747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ENDEREÇO DE REDE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PRIMEIRO IP VALIDO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ULTIMO IP VALIDO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ENDEREÇO DE BROADCAST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47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75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172.19.7.254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172.19.7.255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22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172.19.11.254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172.19.11.255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05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172.19.15.254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172.19.15.255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47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172.19.19.254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172.19.19.255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75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172.19.23.254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172.19.23.255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19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172.19.27.255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36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172.19.31.255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6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172.19.35.255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69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172.19.39.255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13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535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E87D9-A387-B3A9-1B3C-0DDD77EAA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762"/>
            <a:ext cx="10515600" cy="726696"/>
          </a:xfrm>
        </p:spPr>
        <p:txBody>
          <a:bodyPr/>
          <a:lstStyle/>
          <a:p>
            <a:pPr algn="ctr"/>
            <a:r>
              <a:rPr lang="pt-BR" dirty="0"/>
              <a:t>AGORA É SUA VEZ...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79752E-5D5A-BF01-AA0C-6E0E2E800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Diante do cenário:</a:t>
            </a:r>
          </a:p>
          <a:p>
            <a:pPr lvl="1"/>
            <a:r>
              <a:rPr lang="pt-BR" dirty="0"/>
              <a:t>Matriz 1900</a:t>
            </a:r>
          </a:p>
          <a:p>
            <a:pPr lvl="1"/>
            <a:r>
              <a:rPr lang="pt-BR" dirty="0"/>
              <a:t>Filial I 1700</a:t>
            </a:r>
          </a:p>
          <a:p>
            <a:pPr lvl="1"/>
            <a:r>
              <a:rPr lang="pt-BR" dirty="0"/>
              <a:t>Filial II 1500 IPS	</a:t>
            </a:r>
          </a:p>
          <a:p>
            <a:pPr lvl="2"/>
            <a:r>
              <a:rPr lang="pt-BR" dirty="0"/>
              <a:t>A você foi fornecido 172.16.0.0 para Lan e </a:t>
            </a:r>
            <a:r>
              <a:rPr lang="pt-BR" dirty="0" err="1"/>
              <a:t>Wan</a:t>
            </a:r>
            <a:endParaRPr lang="pt-BR" dirty="0"/>
          </a:p>
          <a:p>
            <a:pPr marL="1371600" lvl="2" indent="-457200">
              <a:buAutoNum type="arabicPeriod"/>
            </a:pPr>
            <a:r>
              <a:rPr lang="pt-BR" dirty="0"/>
              <a:t>Identifique a quantidade de bits que serão emprestados</a:t>
            </a:r>
          </a:p>
          <a:p>
            <a:pPr marL="1371600" lvl="2" indent="-457200">
              <a:buAutoNum type="arabicPeriod"/>
            </a:pPr>
            <a:r>
              <a:rPr lang="pt-BR" dirty="0"/>
              <a:t>Identifique a quantidade de bits que irão sobrar (não serão emprestados</a:t>
            </a:r>
          </a:p>
          <a:p>
            <a:pPr marL="1371600" lvl="2" indent="-457200">
              <a:buAutoNum type="arabicPeriod"/>
            </a:pPr>
            <a:r>
              <a:rPr lang="pt-BR" dirty="0"/>
              <a:t>Identifique a quantidade de Hosts disponíveis</a:t>
            </a:r>
          </a:p>
          <a:p>
            <a:pPr marL="1371600" lvl="2" indent="-457200">
              <a:buAutoNum type="arabicPeriod"/>
            </a:pPr>
            <a:r>
              <a:rPr lang="pt-BR" dirty="0"/>
              <a:t>Identifique a quantidade de intervalos variação e </a:t>
            </a:r>
            <a:r>
              <a:rPr lang="pt-BR" dirty="0" err="1"/>
              <a:t>qtde</a:t>
            </a:r>
            <a:r>
              <a:rPr lang="pt-BR" dirty="0"/>
              <a:t> de IPS</a:t>
            </a:r>
          </a:p>
          <a:p>
            <a:pPr marL="1371600" lvl="2" indent="-457200">
              <a:buAutoNum type="arabicPeriod"/>
            </a:pPr>
            <a:r>
              <a:rPr lang="pt-BR" dirty="0"/>
              <a:t>Identifique a mascara de sub rede</a:t>
            </a:r>
          </a:p>
          <a:p>
            <a:pPr marL="1371600" lvl="2" indent="-457200">
              <a:buAutoNum type="arabicPeriod"/>
            </a:pPr>
            <a:r>
              <a:rPr lang="pt-BR" dirty="0"/>
              <a:t>Identifique a representação em barra</a:t>
            </a:r>
          </a:p>
          <a:p>
            <a:pPr marL="1371600" lvl="2" indent="-457200">
              <a:buAutoNum type="arabicPeriod"/>
            </a:pPr>
            <a:r>
              <a:rPr lang="pt-BR" dirty="0"/>
              <a:t>Promova a abertura de </a:t>
            </a:r>
            <a:r>
              <a:rPr lang="pt-BR"/>
              <a:t>05 intervalos’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516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2" ma:contentTypeDescription="Crie um novo documento." ma:contentTypeScope="" ma:versionID="feff246cd277a27f35d123d84cd807b2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63ef0cd93e8e9196e5ae6a026ea572a0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d09d9946-15cf-424c-86ce-06f382dd2afa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Props1.xml><?xml version="1.0" encoding="utf-8"?>
<ds:datastoreItem xmlns:ds="http://schemas.openxmlformats.org/officeDocument/2006/customXml" ds:itemID="{3D55B650-2816-40C7-A0DB-0DCB0F993D31}"/>
</file>

<file path=customXml/itemProps2.xml><?xml version="1.0" encoding="utf-8"?>
<ds:datastoreItem xmlns:ds="http://schemas.openxmlformats.org/officeDocument/2006/customXml" ds:itemID="{8D7A7D05-8827-40C2-8013-3E830218EC3D}"/>
</file>

<file path=customXml/itemProps3.xml><?xml version="1.0" encoding="utf-8"?>
<ds:datastoreItem xmlns:ds="http://schemas.openxmlformats.org/officeDocument/2006/customXml" ds:itemID="{F902B816-B952-4A94-B446-C2ED4427425E}"/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1297</Words>
  <Application>Microsoft Office PowerPoint</Application>
  <PresentationFormat>Widescreen</PresentationFormat>
  <Paragraphs>609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Apresentação do PowerPoint</vt:lpstr>
      <vt:lpstr>PENSE COMIGO.....</vt:lpstr>
      <vt:lpstr>SUB NET´S</vt:lpstr>
      <vt:lpstr>COMPOSIÇÃO IP</vt:lpstr>
      <vt:lpstr>Apresentação do PowerPoint</vt:lpstr>
      <vt:lpstr>Apresentação do PowerPoint</vt:lpstr>
      <vt:lpstr>Apresentação do PowerPoint</vt:lpstr>
      <vt:lpstr>Diante do cenário: Matriz   800 IPS Filial   700  IPS Data Center  750 IPS   </vt:lpstr>
      <vt:lpstr>Apresentação do PowerPoint</vt:lpstr>
      <vt:lpstr>Apresentação do PowerPoint</vt:lpstr>
      <vt:lpstr>Apresentação do PowerPoint</vt:lpstr>
      <vt:lpstr>ABERTURA DOS INTERVALOS 64 INTERVALOS QUE VARIAM DE 4 EM 4</vt:lpstr>
      <vt:lpstr>AGORA É SUA VEZ...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Logon PF Fiap</dc:creator>
  <cp:lastModifiedBy>FABIO MACOLI</cp:lastModifiedBy>
  <cp:revision>16</cp:revision>
  <dcterms:created xsi:type="dcterms:W3CDTF">2024-04-01T11:37:18Z</dcterms:created>
  <dcterms:modified xsi:type="dcterms:W3CDTF">2026-04-06T23:15:51Z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</Properties>
</file>